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457200"/>
            <a:ext cx="2286000" cy="228600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200400"/>
            <a:ext cx="1645920" cy="1645920"/>
          </a:xfrm>
          <a:prstGeom prst="ellipse">
            <a:avLst/>
          </a:prstGeom>
          <a:solidFill>
            <a:srgbClr val="F0C040">
              <a:alpha val="25000"/>
            </a:srgbClr>
          </a:solidFill>
          <a:ln w="12700">
            <a:solidFill>
              <a:srgbClr val="F0C04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2194560" cy="2926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BRIEF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0040" y="3657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Growth · Embedding AI · Building a Future-Ready Organization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" y="4709160"/>
            <a:ext cx="8979408" cy="429768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8778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CXO Leadership Team  ·  Technology Consulting Organization  ·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Analysis &amp; Challenges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Vision &amp; North Star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Strategic Pillars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 &amp; Initiatives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Roadmap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87452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Tracking Framework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834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– First 2 Quarters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79476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Collaboration Blueprint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ANALYSIS · 9 Critical Challenge Areas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91440" cy="1207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Upskilling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roadmap; limited future-ready skills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2533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68680"/>
            <a:ext cx="91440" cy="1207008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Collab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2527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output; siloed teams; no cross-BU visibility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868680"/>
            <a:ext cx="91440" cy="1207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Engagement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12527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Well-being gaps; work-life imbalance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221992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221992"/>
            <a:ext cx="91440" cy="1207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13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&amp; Estimation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scoping; effort underestimation; budget drift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221992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221992"/>
            <a:ext cx="91440" cy="1207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313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Execution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6060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misses; weak PM; budget overruns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2221992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221992"/>
            <a:ext cx="91440" cy="1207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313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Strategy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6060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prioritization; unprofitable accounts taken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575304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2533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575304"/>
            <a:ext cx="91440" cy="1207008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9593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internal/external AI uptake; no roadmap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3575304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575304"/>
            <a:ext cx="91440" cy="1207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9593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forecasting; burnout; imbalanced workloads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3575304"/>
            <a:ext cx="2834640" cy="1207008"/>
          </a:xfrm>
          <a:prstGeom prst="rect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575304"/>
            <a:ext cx="91440" cy="1207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Structure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39593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Digital/Data/AI split limits 360° visibility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253380">
              <a:alpha val="50000"/>
            </a:srgbClr>
          </a:solidFill>
          <a:ln w="12700">
            <a:solidFill>
              <a:srgbClr val="25338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become the region's most trusted AI-powered consulting partner -- combining deep domain expertise with intelligent automation to deliver measurable client outcomes, while building a resilient, engaged, and future-ready organization."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Five Strategic Pillars: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834640"/>
            <a:ext cx="1508760" cy="1645920"/>
          </a:xfrm>
          <a:prstGeom prst="rect">
            <a:avLst/>
          </a:prstGeom>
          <a:solidFill>
            <a:srgbClr val="253380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834640"/>
            <a:ext cx="1508760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063240"/>
            <a:ext cx="1508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2834640"/>
            <a:ext cx="1508760" cy="1645920"/>
          </a:xfrm>
          <a:prstGeom prst="rect">
            <a:avLst/>
          </a:prstGeom>
          <a:solidFill>
            <a:srgbClr val="253380"/>
          </a:solidFill>
          <a:ln w="25400">
            <a:solidFill>
              <a:srgbClr val="F0C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2834640"/>
            <a:ext cx="1508760" cy="16459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3063240"/>
            <a:ext cx="1508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2834640"/>
            <a:ext cx="1508760" cy="1645920"/>
          </a:xfrm>
          <a:prstGeom prst="rect">
            <a:avLst/>
          </a:prstGeom>
          <a:solidFill>
            <a:srgbClr val="25338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2834640"/>
            <a:ext cx="1508760" cy="1645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063240"/>
            <a:ext cx="1508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2834640"/>
            <a:ext cx="1508760" cy="1645920"/>
          </a:xfrm>
          <a:prstGeom prst="rect">
            <a:avLst/>
          </a:prstGeom>
          <a:solidFill>
            <a:srgbClr val="253380"/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2834640"/>
            <a:ext cx="1508760" cy="1645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063240"/>
            <a:ext cx="1508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2834640"/>
            <a:ext cx="1508760" cy="1645920"/>
          </a:xfrm>
          <a:prstGeom prst="rect">
            <a:avLst/>
          </a:prstGeom>
          <a:solidFill>
            <a:srgbClr val="253380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2834640"/>
            <a:ext cx="1508760" cy="1645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3063240"/>
            <a:ext cx="1508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TRANSFORMATION HORIZON  ·  Q1 2025 → Q4 2025  →  Sustained Growth Beyond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STRATEGIC 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563624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" y="1892808"/>
            <a:ext cx="0" cy="4114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2304288"/>
            <a:ext cx="201168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2304288"/>
            <a:ext cx="20116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Foundation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" y="2606040"/>
            <a:ext cx="179222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integration kick-off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roadmap launch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&amp; tooling assessment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 set-up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1563624"/>
            <a:ext cx="329184" cy="32918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6704" y="1892808"/>
            <a:ext cx="0" cy="41148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304288"/>
            <a:ext cx="201168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304288"/>
            <a:ext cx="201168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Acceleration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87168" y="2606040"/>
            <a:ext cx="179222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CoE formation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playbook rollout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engagement program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KPI reviews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22392" y="1563624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86984" y="1892808"/>
            <a:ext cx="0" cy="41148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304288"/>
            <a:ext cx="201168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30428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Scale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7448" y="2606040"/>
            <a:ext cx="179222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solutions in client 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strategy overhaul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demand forecasting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strategy review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62672" y="1563624"/>
            <a:ext cx="329184" cy="329184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27264" y="1892808"/>
            <a:ext cx="0" cy="411480"/>
          </a:xfrm>
          <a:prstGeom prst="line">
            <a:avLst/>
          </a:prstGeom>
          <a:noFill/>
          <a:ln w="19050">
            <a:solidFill>
              <a:srgbClr val="E052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304288"/>
            <a:ext cx="201168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2304288"/>
            <a:ext cx="2011680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Optimise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67728" y="2606040"/>
            <a:ext cx="179222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 integration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KPI 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Next-year roadmap planning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innovation awards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Phases are sequential but parallel workstreams run continuously across all quarters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STRATEGIC PILLARS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8778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Organisation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silos; unified BU; 360° visibility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73152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875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BU Splits · Resource Planning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859536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73352"/>
            <a:ext cx="59436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73352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1728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Capability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well-being, engagement, future skills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73152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837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Training · Employee Engagement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859536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23744"/>
            <a:ext cx="594360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2374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2578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Excellence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916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PM, KPI discipline, stakeholder mgmt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706624"/>
            <a:ext cx="73152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6883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Project Execution · Presales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374136"/>
            <a:ext cx="859536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374136"/>
            <a:ext cx="594360" cy="749808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374136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Advantage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automation + client AI capabilities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73152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5387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AI Focus · Innovation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224528"/>
            <a:ext cx="859536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224528"/>
            <a:ext cx="594360" cy="7498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24528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05840" y="4279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Growth Engine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prioritisation, profitable pipeline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407408"/>
            <a:ext cx="73152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3891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Account Strategy · Presales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INTEGRATED ORGANISATION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74520"/>
          </a:xfrm>
          <a:prstGeom prst="rect">
            <a:avLst/>
          </a:prstGeom>
          <a:solidFill>
            <a:srgbClr val="F4F6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Business Unit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Digital, Data &amp; AI BUs into one integrated practice with cross-functional squads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27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unified P&amp;L with shared leadership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379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cross-BU practice areas (e.g., Digital+AI, Data+Analytics)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48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BU Integration PMO with monthly steering reviews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560320" cy="7772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371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· Practice Leads · Finance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8595360" cy="1874520"/>
          </a:xfrm>
          <a:prstGeom prst="rect">
            <a:avLst/>
          </a:prstGeom>
          <a:solidFill>
            <a:srgbClr val="F4F6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Resource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Forecast, allocate, and balance workloads using data-driven insights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387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resource management tool (e.g., Planview/Float)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89534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96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demand forecasting model updated quarterly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workload health index—flag burnout risk proactively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337560"/>
            <a:ext cx="2560320" cy="7772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383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Heads · HR · PMO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PEOPLE &amp; CAPABILITY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74520"/>
          </a:xfrm>
          <a:prstGeom prst="rect">
            <a:avLst/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Learning &amp; Upskilling Roadmap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353312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075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 across all roles using competency matrix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655064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09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3 tracks: Technical, Consulting, Leadership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956816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110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Coursera/Udemy for certifications; monthly learning sprints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258568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128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skill assessment linked to performance reviews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2103120"/>
            <a:ext cx="1280160" cy="502920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2121408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874520"/>
          </a:xfrm>
          <a:prstGeom prst="rect">
            <a:avLst/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109728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Well-Being &amp; Engagement Program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364992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192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monthly virtual town halls with CXO AMA sessions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666744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6210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flexible async work policies for remote teams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3968496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9227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employee NPS survey; act on results within 30 days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4270248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24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recognition program with points-based reward system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4114800"/>
            <a:ext cx="1280160" cy="502920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4928" y="4133088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EXECUTION EXCELLENCE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74520"/>
          </a:xfrm>
          <a:prstGeom prst="rect">
            <a:avLst/>
          </a:prstGeom>
          <a:solidFill>
            <a:srgbClr val="F4F6F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&amp; Estimation Rigour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167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Presales Playbook with effort estimation templates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3-point estimation (optimistic/realistic/pessimistic) mandatory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75104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38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Pre-bid peer review gate before submitting proposals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4942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win-rate and estimation accuracy as KPIs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441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Presales Lead · Practice Leads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8595360" cy="1874520"/>
          </a:xfrm>
          <a:prstGeom prst="rect">
            <a:avLst/>
          </a:prstGeom>
          <a:solidFill>
            <a:srgbClr val="F4F6FC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Project Delivery Framework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73152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284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weekly RAG (Red/Amber/Green) status dashboards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73152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39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training on stakeholder management &amp; escalation protocols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986784"/>
            <a:ext cx="73152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50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Delivery Health Reviews with CXO visibility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73152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6110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alerts at 10% threshold; mandatory correction 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4531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PMO · Project Managers · Delivery Head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53380">
              <a:alpha val="45000"/>
            </a:srgbClr>
          </a:solidFill>
          <a:ln w="12700">
            <a:solidFill>
              <a:srgbClr val="25338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AI-FIRST ADVANTAGE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253380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2926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AI ENABLEMENT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25296"/>
            <a:ext cx="109728" cy="10972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project risk predictor using historical delivery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82496"/>
            <a:ext cx="109728" cy="10972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presales scoping assistant (NLP-based effort estimator)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109728" cy="10972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base chatbot for delivery best practices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109728" cy="10972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resource demand forecasting model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109728" cy="10972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meeting summaries &amp; action item extraction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109728" cy="10972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upskilling recommender based on skill gap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25338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822960"/>
            <a:ext cx="402336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AI CAPABILITIES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22529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analytics dashboards for client reporting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168249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processing for data engineering clients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213969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&amp; anomaly detection solutions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59689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monitoring &amp; MLOps implementation services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05409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enterprise knowledge management platforms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351129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solutions for digital transformation projects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 ROADMAP · From Aware to AI-Native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554480" cy="32004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0848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training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tool adoption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0" y="1783080"/>
            <a:ext cx="1737360" cy="2697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25877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AI tools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automation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31920" y="2286000"/>
            <a:ext cx="1920240" cy="2194560"/>
          </a:xfrm>
          <a:prstGeom prst="rect">
            <a:avLst/>
          </a:prstGeom>
          <a:solidFill>
            <a:srgbClr val="6B9FDB"/>
          </a:solidFill>
          <a:ln w="12700">
            <a:solidFill>
              <a:srgbClr val="6B9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30906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delivery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established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2788920"/>
            <a:ext cx="2011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35935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AI products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0" y="3291840"/>
            <a:ext cx="640080" cy="1188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286000"/>
            <a:ext cx="548640" cy="2286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Level 3 by Q4 2025  ·  Level 4 by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462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34640" y="4462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4462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49440" y="4462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 STRATEGIC GROWTH ENGINE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Prioritisation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1234440"/>
          </a:xfrm>
          <a:prstGeom prst="rect">
            <a:avLst/>
          </a:prstGeom>
          <a:solidFill>
            <a:srgbClr val="2E7D52">
              <a:alpha val="12000"/>
            </a:srgbClr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strategic fit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920240" cy="12344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strategic fit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1920240" cy="123444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strategic fit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2651760"/>
            <a:ext cx="1920240" cy="1234440"/>
          </a:xfrm>
          <a:prstGeom prst="rect">
            <a:avLst/>
          </a:prstGeom>
          <a:solidFill>
            <a:srgbClr val="E05252">
              <a:alpha val="12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strategic fit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 rot="16200000">
            <a:off x="91440" y="13716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Strategic Fit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3959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Value →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Initiatives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397764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234440"/>
            <a:ext cx="73152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Tiering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1581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all accounts by revenue, margin &amp; strategic alignment quarterly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2148840"/>
            <a:ext cx="397764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148840"/>
            <a:ext cx="73152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Pipeline Filter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496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No-bid decision criteria: margin &lt;20%, non-aligned scope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3063240"/>
            <a:ext cx="397764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063240"/>
            <a:ext cx="73152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 Growth Plans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growth charters for Tier-1 accounts; QBRs mandatory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3977640"/>
            <a:ext cx="397764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977640"/>
            <a:ext cx="73152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Win-Rate Tracking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4325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win-rate KPI by practice; learn from losses systematically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TRACKING FRAMEWORK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55448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515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STRATEGIC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65960" y="8961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Strategy Council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2070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 ·  Roles: CEO · COO · CFO · CTO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144475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Revenue growth · Margin · Client NPS · AI maturity score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12848"/>
            <a:ext cx="1554480" cy="12618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44144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OPERATIONAL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22860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2596896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Bi-weekly  ·  Roles: Strategy Lead · Practice Leads · HR · PMO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2834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Initiative completion % · KPI RAG status · Budget variance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02736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02736"/>
            <a:ext cx="1554480" cy="12618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831336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EXECUTION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36758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Team Leads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98678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Weekly  ·  Roles: Project Managers · Team Leads · Resource Managers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5960" y="42245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Project RAG · Utilisation % · Training completion · eNPS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1560" y="2084832"/>
            <a:ext cx="0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3474720"/>
            <a:ext cx="0" cy="128016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escalate upward through tiers. All decisions and resolutions are logged in the centralized Strategy Dashboard.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· Measuring What Matters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1901952"/>
          </a:xfrm>
          <a:prstGeom prst="rect">
            <a:avLst/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28346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KPIs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" y="11521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rate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48840" y="1124712"/>
            <a:ext cx="804672" cy="237744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1247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quarterly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8328" y="16459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NPS (eNPS)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48840" y="1618488"/>
            <a:ext cx="804672" cy="237744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6184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48840" y="2112264"/>
            <a:ext cx="804672" cy="237744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11226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&lt;15% annual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834640" cy="1901952"/>
          </a:xfrm>
          <a:prstGeom prst="rect">
            <a:avLst/>
          </a:prstGeom>
          <a:solidFill>
            <a:srgbClr val="F4F6F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804672"/>
            <a:ext cx="2834640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804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KPIs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11521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on-time delivery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124712"/>
            <a:ext cx="804672" cy="237744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1247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10128" y="16459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20640" y="1618488"/>
            <a:ext cx="804672" cy="237744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6184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&lt;±10%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10128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estimation accuracy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20640" y="2112264"/>
            <a:ext cx="804672" cy="237744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11226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72200" y="804672"/>
            <a:ext cx="2834640" cy="1901952"/>
          </a:xfrm>
          <a:prstGeom prst="rect">
            <a:avLst/>
          </a:prstGeom>
          <a:solidFill>
            <a:srgbClr val="F4F6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804672"/>
            <a:ext cx="28346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804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 KPIs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81928" y="11521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adopted internally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92440" y="1124712"/>
            <a:ext cx="804672" cy="237744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11247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by Q4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81928" y="16459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deliveries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92440" y="1618488"/>
            <a:ext cx="804672" cy="237744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16184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≥30% of projects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81928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CoE active members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92440" y="2112264"/>
            <a:ext cx="804672" cy="237744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211226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8600" y="2834640"/>
            <a:ext cx="2834640" cy="1901952"/>
          </a:xfrm>
          <a:prstGeom prst="rect">
            <a:avLst/>
          </a:prstGeom>
          <a:solidFill>
            <a:srgbClr val="F4F6FC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2834640"/>
            <a:ext cx="2834640" cy="2743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KPIs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" y="31821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(YoY)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148840" y="3154680"/>
            <a:ext cx="804672" cy="237744"/>
          </a:xfrm>
          <a:prstGeom prst="rect">
            <a:avLst/>
          </a:prstGeom>
          <a:solidFill>
            <a:srgbClr val="E05252">
              <a:alpha val="1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48840" y="31546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&gt;25%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8328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148840" y="3648456"/>
            <a:ext cx="804672" cy="237744"/>
          </a:xfrm>
          <a:prstGeom prst="rect">
            <a:avLst/>
          </a:prstGeom>
          <a:solidFill>
            <a:srgbClr val="E05252">
              <a:alpha val="1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36484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&gt;35%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38328" y="41696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on proposals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148840" y="4142232"/>
            <a:ext cx="804672" cy="237744"/>
          </a:xfrm>
          <a:prstGeom prst="rect">
            <a:avLst/>
          </a:prstGeom>
          <a:solidFill>
            <a:srgbClr val="E05252">
              <a:alpha val="1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48840" y="41422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00400" y="2834640"/>
            <a:ext cx="2834640" cy="1901952"/>
          </a:xfrm>
          <a:prstGeom prst="rect">
            <a:avLst/>
          </a:prstGeom>
          <a:solidFill>
            <a:srgbClr val="F4F6FC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2834640"/>
            <a:ext cx="2834640" cy="2743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KPIs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10128" y="31821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ideas submitted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120640" y="3154680"/>
            <a:ext cx="804672" cy="237744"/>
          </a:xfrm>
          <a:prstGeom prst="rect">
            <a:avLst/>
          </a:prstGeom>
          <a:solidFill>
            <a:srgbClr val="253380">
              <a:alpha val="15000"/>
            </a:srgbClr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31546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≥50/quarter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310128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implemented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20640" y="3648456"/>
            <a:ext cx="804672" cy="237744"/>
          </a:xfrm>
          <a:prstGeom prst="rect">
            <a:avLst/>
          </a:prstGeom>
          <a:solidFill>
            <a:srgbClr val="253380">
              <a:alpha val="15000"/>
            </a:srgbClr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0" y="36484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≥10/quarter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310128" y="41696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Cross-BU collaborations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120640" y="4142232"/>
            <a:ext cx="804672" cy="237744"/>
          </a:xfrm>
          <a:prstGeom prst="rect">
            <a:avLst/>
          </a:prstGeom>
          <a:solidFill>
            <a:srgbClr val="253380">
              <a:alpha val="15000"/>
            </a:srgbClr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41422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projects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172200" y="2834640"/>
            <a:ext cx="2834640" cy="1901952"/>
          </a:xfrm>
          <a:prstGeom prst="rect">
            <a:avLst/>
          </a:prstGeom>
          <a:solidFill>
            <a:srgbClr val="F4F6FC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72200" y="2834640"/>
            <a:ext cx="2834640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722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KPIs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81928" y="31821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NPS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092440" y="3154680"/>
            <a:ext cx="804672" cy="237744"/>
          </a:xfrm>
          <a:prstGeom prst="rect">
            <a:avLst/>
          </a:prstGeom>
          <a:solidFill>
            <a:srgbClr val="2E7D52">
              <a:alpha val="15000"/>
            </a:srgbClr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92440" y="31546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281928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expansion rate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092440" y="3648456"/>
            <a:ext cx="804672" cy="237744"/>
          </a:xfrm>
          <a:prstGeom prst="rect">
            <a:avLst/>
          </a:prstGeom>
          <a:solidFill>
            <a:srgbClr val="2E7D52">
              <a:alpha val="15000"/>
            </a:srgbClr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92440" y="36484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&gt;30%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281928" y="41696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Unprofitable accounts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092440" y="4142232"/>
            <a:ext cx="804672" cy="237744"/>
          </a:xfrm>
          <a:prstGeom prst="rect">
            <a:avLst/>
          </a:prstGeom>
          <a:solidFill>
            <a:srgbClr val="2E7D52">
              <a:alpha val="15000"/>
            </a:srgbClr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92440" y="41422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 Q4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· H1 Impact Plan (Q1 + Q2)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41148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87782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Weekly RAG Delivery Dashboard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Immediate project visibility; reduce surprises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4447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PMO  ·  Effort: LOW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04672"/>
            <a:ext cx="41148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0467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87782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No-Bid Criteria for Accounts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0" y="118872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Stop margin leakage within 90 days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12080" y="14447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Strategy + Sales  ·  Effort: LOW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28600" y="182880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828800"/>
            <a:ext cx="41148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8288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Audit &amp; Quick Adoption (ChatGPT/Copilot)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221284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20% productivity boost in 60 days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24688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CTO + HR  ·  Effort: LOW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828800"/>
            <a:ext cx="41148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8288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19019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First Skill Gap Assessment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0" y="221284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Data-backed training plan within 6 weeks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HR + Leads  ·  Effort: MED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285292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852928"/>
            <a:ext cx="41148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85292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29260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Playbook v1 Released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" y="323697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Estimation accuracy improvement &gt;80%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349300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Presales Lead  ·  Effort: MED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09160" y="285292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852928"/>
            <a:ext cx="41148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85292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9260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Employee NPS Survey + Action Plan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12080" y="323697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eNPS baseline &amp; first actions visible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12080" y="349300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HR  ·  Effort: LOW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8600" y="3877056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877056"/>
            <a:ext cx="41148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877056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39502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 Centre of Excellence (CoE)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" y="426110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Structured AI roadmap &amp; accountability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451713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CTO + Strategy  ·  Effort: MED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09160" y="3877056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877056"/>
            <a:ext cx="41148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877056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12080" y="39502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Cross-BU Innovation Sprint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12080" y="426110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3+ ideas piloted; collaboration culture ignited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12080" y="451713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Practice Leads  ·  Effort: MED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253380">
              <a:alpha val="40000"/>
            </a:srgbClr>
          </a:solidFill>
          <a:ln w="12700">
            <a:solidFill>
              <a:srgbClr val="25338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COLLABORATION · Remote-First Blueprint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98064" cy="1901952"/>
          </a:xfrm>
          <a:prstGeom prst="rect">
            <a:avLst/>
          </a:prstGeom>
          <a:solidFill>
            <a:srgbClr val="25338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Connection Rituals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441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virtual town halls with CXO AMA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team stand-ups with personal check-ins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virtual offsite — strategy + fun blend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72968" y="822960"/>
            <a:ext cx="2798064" cy="1901952"/>
          </a:xfrm>
          <a:prstGeom prst="rect">
            <a:avLst/>
          </a:prstGeom>
          <a:solidFill>
            <a:srgbClr val="25338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Innovation Culture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1389888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3441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'Innovation Sprint' — 48hr hackathon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10128" y="1792224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174650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platform with leadership review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10128" y="2194560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1488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awards — recognized at town halls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17336" y="822960"/>
            <a:ext cx="2798064" cy="1901952"/>
          </a:xfrm>
          <a:prstGeom prst="rect">
            <a:avLst/>
          </a:prstGeom>
          <a:solidFill>
            <a:srgbClr val="25338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Recognition System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1389888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13441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recognition tool (Kudos/Bonusly)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54496" y="1792224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174650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spotlight: delivery excellence &amp; innovation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54496" y="2194560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21488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celebrations — project go-lives, wins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852928"/>
            <a:ext cx="2798064" cy="1901952"/>
          </a:xfrm>
          <a:prstGeom prst="rect">
            <a:avLst/>
          </a:prstGeom>
          <a:solidFill>
            <a:srgbClr val="25338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Psychological Safety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419856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37413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feedback channels always open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822192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7764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retrospectives — learn without blame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224528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17880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training: remote empathy &amp; async-first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172968" y="2852928"/>
            <a:ext cx="2798064" cy="1901952"/>
          </a:xfrm>
          <a:prstGeom prst="rect">
            <a:avLst/>
          </a:prstGeom>
          <a:solidFill>
            <a:srgbClr val="25338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82696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Accountability Culture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10128" y="3419856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37413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framework at BU and individual levels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0128" y="3822192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37764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15-min async video updates from leads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0128" y="4224528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417880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scorecards visible to all — radical transparency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17336" y="2852928"/>
            <a:ext cx="2798064" cy="1901952"/>
          </a:xfrm>
          <a:prstGeom prst="rect">
            <a:avLst/>
          </a:prstGeom>
          <a:solidFill>
            <a:srgbClr val="25338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7064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Work-Life Balance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54496" y="3419856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337413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No-meeting Fridays policy for deep work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54496" y="3822192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37764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Async-first communication norms documented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54496" y="4224528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7376" y="417880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days + flexible PTO policy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VIEW &amp; KEY ASSUMPTIONS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Investment Breakdown (Annual)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502920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L&amp;D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$50K–$80K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Tools &amp; Platform Licences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$80K–$120K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Management Tooling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$30K–$50K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Engagement Programs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$20K–$40K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 &amp; Governance Tooling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$15K–$25K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 Sprints &amp; 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$10K–$20K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234440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79008" y="120700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has 150–300 employees across BUs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577840" y="1581912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79008" y="15544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remote setup with async-first communication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77840" y="1929384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79008" y="190195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team is committed to strategic change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577840" y="2276856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79008" y="224942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infrastructure is cloud-based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577840" y="2624328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9008" y="259689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budget is available (~2–3% of revenue)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77840" y="2971800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79008" y="29443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procurement approved at CXO level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3319272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79008" y="329184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team has direct reporting to COO/CEO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3977640"/>
            <a:ext cx="8595360" cy="841248"/>
          </a:xfrm>
          <a:prstGeom prst="rect">
            <a:avLst/>
          </a:prstGeom>
          <a:solidFill>
            <a:srgbClr val="F4F6FC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ROI: A structured transformation at this scale typically delivers 15–25% improvement in delivery efficiency, 20%+ increase in employee retention, and 30%+ growth in AI-enabled revenue within 18 months.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3380">
              <a:alpha val="40000"/>
            </a:srgbClr>
          </a:solidFill>
          <a:ln w="12700">
            <a:solidFill>
              <a:srgbClr val="25338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0C040">
              <a:alpha val="15000"/>
            </a:srgbClr>
          </a:solidFill>
          <a:ln w="12700">
            <a:solidFill>
              <a:srgbClr val="F0C04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for the CXO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170432"/>
            <a:ext cx="8046720" cy="841248"/>
          </a:xfrm>
          <a:prstGeom prst="rect">
            <a:avLst/>
          </a:prstGeom>
          <a:solidFill>
            <a:srgbClr val="25338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53312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53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61872" y="1335024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2 strategic pillars do we want to prioritize FIRST?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8046720" cy="841248"/>
          </a:xfrm>
          <a:prstGeom prst="rect">
            <a:avLst/>
          </a:prstGeom>
          <a:solidFill>
            <a:srgbClr val="25338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475488" cy="47548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61872" y="235915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appetite for AI investment in the next 12 months?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18688"/>
            <a:ext cx="8046720" cy="841248"/>
          </a:xfrm>
          <a:prstGeom prst="rect">
            <a:avLst/>
          </a:prstGeom>
          <a:solidFill>
            <a:srgbClr val="25338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01568"/>
            <a:ext cx="475488" cy="47548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33832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transformation mandate at the CXO level?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starts with a decision. Let's make it together.  ·  Strategy &amp; Transformation Team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&amp; Transformation Plan 2025-2026</dc:title>
  <dc:subject>PptxGenJS Presentation</dc:subject>
  <dc:creator>PptxGenJS</dc:creator>
  <cp:lastModifiedBy>PptxGenJS</cp:lastModifiedBy>
  <cp:revision>1</cp:revision>
  <dcterms:created xsi:type="dcterms:W3CDTF">2026-04-13T07:52:04Z</dcterms:created>
  <dcterms:modified xsi:type="dcterms:W3CDTF">2026-04-13T07:52:04Z</dcterms:modified>
</cp:coreProperties>
</file>